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League Spartan" charset="1" panose="00000800000000000000"/>
      <p:regular r:id="rId14"/>
    </p:embeddedFont>
    <p:embeddedFont>
      <p:font typeface="Montserrat" charset="1" panose="00000500000000000000"/>
      <p:regular r:id="rId15"/>
    </p:embeddedFont>
    <p:embeddedFont>
      <p:font typeface="Roboto Bold" charset="1" panose="02000000000000000000"/>
      <p:regular r:id="rId16"/>
    </p:embeddedFont>
    <p:embeddedFont>
      <p:font typeface="Roboto" charset="1" panose="02000000000000000000"/>
      <p:regular r:id="rId17"/>
    </p:embeddedFont>
    <p:embeddedFont>
      <p:font typeface="Montserrat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embeddings/oleObject1.bin" Type="http://schemas.openxmlformats.org/officeDocument/2006/relationships/oleObject"/><Relationship Id="rId4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6225" y="257175"/>
            <a:ext cx="17773650" cy="9772555"/>
            <a:chOff x="0" y="0"/>
            <a:chExt cx="4681093" cy="2573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81093" cy="2573909"/>
            </a:xfrm>
            <a:custGeom>
              <a:avLst/>
              <a:gdLst/>
              <a:ahLst/>
              <a:cxnLst/>
              <a:rect r="r" b="b" t="t" l="l"/>
              <a:pathLst>
                <a:path h="2573909" w="4681093">
                  <a:moveTo>
                    <a:pt x="4681093" y="8276"/>
                  </a:moveTo>
                  <a:lnTo>
                    <a:pt x="4681093" y="2565633"/>
                  </a:lnTo>
                  <a:cubicBezTo>
                    <a:pt x="4681093" y="2570204"/>
                    <a:pt x="4677388" y="2573909"/>
                    <a:pt x="4672817" y="2573909"/>
                  </a:cubicBezTo>
                  <a:lnTo>
                    <a:pt x="8276" y="2573909"/>
                  </a:lnTo>
                  <a:cubicBezTo>
                    <a:pt x="3705" y="2573909"/>
                    <a:pt x="0" y="2570204"/>
                    <a:pt x="0" y="2565633"/>
                  </a:cubicBezTo>
                  <a:lnTo>
                    <a:pt x="0" y="8276"/>
                  </a:lnTo>
                  <a:cubicBezTo>
                    <a:pt x="0" y="3705"/>
                    <a:pt x="3705" y="0"/>
                    <a:pt x="8276" y="0"/>
                  </a:cubicBezTo>
                  <a:lnTo>
                    <a:pt x="4672817" y="0"/>
                  </a:lnTo>
                  <a:cubicBezTo>
                    <a:pt x="4677388" y="0"/>
                    <a:pt x="4681093" y="3705"/>
                    <a:pt x="4681093" y="8276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81093" cy="2612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57468" y="2328596"/>
            <a:ext cx="16230600" cy="2145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9"/>
              </a:lnSpc>
            </a:pPr>
            <a:r>
              <a:rPr lang="en-US" sz="5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Plataforma Web Educativa y Diagnóstico Asistido por IA para la Prevención del Cáncer de Mama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02609" y="5055873"/>
            <a:ext cx="16230600" cy="7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Integración de Redes Neuronales Convolucionales (CNN) y Modelos Conversacionales de Lenguaje (Poe/LLM)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989980"/>
            <a:ext cx="16230600" cy="983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Integrantes :</a:t>
            </a:r>
          </a:p>
          <a:p>
            <a:pPr algn="ctr">
              <a:lnSpc>
                <a:spcPts val="254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Diego Mesias</a:t>
            </a:r>
          </a:p>
          <a:p>
            <a:pPr algn="ctr">
              <a:lnSpc>
                <a:spcPts val="254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Francisco Quiroz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57175" y="253621"/>
            <a:ext cx="3163159" cy="775079"/>
          </a:xfrm>
          <a:custGeom>
            <a:avLst/>
            <a:gdLst/>
            <a:ahLst/>
            <a:cxnLst/>
            <a:rect r="r" b="b" t="t" l="l"/>
            <a:pathLst>
              <a:path h="775079" w="3163159">
                <a:moveTo>
                  <a:pt x="0" y="0"/>
                </a:moveTo>
                <a:lnTo>
                  <a:pt x="3163159" y="0"/>
                </a:lnTo>
                <a:lnTo>
                  <a:pt x="3163159" y="775079"/>
                </a:lnTo>
                <a:lnTo>
                  <a:pt x="0" y="775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7175" y="257223"/>
            <a:ext cx="17773650" cy="9772555"/>
            <a:chOff x="0" y="0"/>
            <a:chExt cx="4681093" cy="2573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81093" cy="2573909"/>
            </a:xfrm>
            <a:custGeom>
              <a:avLst/>
              <a:gdLst/>
              <a:ahLst/>
              <a:cxnLst/>
              <a:rect r="r" b="b" t="t" l="l"/>
              <a:pathLst>
                <a:path h="2573909" w="4681093">
                  <a:moveTo>
                    <a:pt x="4681093" y="8276"/>
                  </a:moveTo>
                  <a:lnTo>
                    <a:pt x="4681093" y="2565633"/>
                  </a:lnTo>
                  <a:cubicBezTo>
                    <a:pt x="4681093" y="2570204"/>
                    <a:pt x="4677388" y="2573909"/>
                    <a:pt x="4672817" y="2573909"/>
                  </a:cubicBezTo>
                  <a:lnTo>
                    <a:pt x="8276" y="2573909"/>
                  </a:lnTo>
                  <a:cubicBezTo>
                    <a:pt x="3705" y="2573909"/>
                    <a:pt x="0" y="2570204"/>
                    <a:pt x="0" y="2565633"/>
                  </a:cubicBezTo>
                  <a:lnTo>
                    <a:pt x="0" y="8276"/>
                  </a:lnTo>
                  <a:cubicBezTo>
                    <a:pt x="0" y="3705"/>
                    <a:pt x="3705" y="0"/>
                    <a:pt x="8276" y="0"/>
                  </a:cubicBezTo>
                  <a:lnTo>
                    <a:pt x="4672817" y="0"/>
                  </a:lnTo>
                  <a:cubicBezTo>
                    <a:pt x="4677388" y="0"/>
                    <a:pt x="4681093" y="3705"/>
                    <a:pt x="4681093" y="8276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81093" cy="2612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66849" y="1557480"/>
            <a:ext cx="14554301" cy="1513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16"/>
              </a:lnSpc>
              <a:spcBef>
                <a:spcPct val="0"/>
              </a:spcBef>
            </a:pPr>
            <a:r>
              <a:rPr lang="en-US" sz="58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PLANTEAMIENTO DEL PROBLEMA E IMPACTO SOCIAL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02728" y="5302964"/>
            <a:ext cx="7234067" cy="3728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2938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Det</a:t>
            </a:r>
            <a:r>
              <a:rPr lang="en-US" b="true" sz="26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ección tardía por desinformación: 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Una de las principales causas de mortalidad en el cáncer de mama es el diagnóstico tardío.</a:t>
            </a:r>
          </a:p>
          <a:p>
            <a:pPr algn="l">
              <a:lnSpc>
                <a:spcPts val="2938"/>
              </a:lnSpc>
            </a:pP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  <a:p>
            <a:pPr algn="l" marL="561341" indent="-280670" lvl="1">
              <a:lnSpc>
                <a:spcPts val="2938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Información médica poco accesible: 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El contenido existente suele ser técnico, extenso y denso, lo que dificulta que la población general lo comprenda y adopte hábitos preventivos.</a:t>
            </a:r>
          </a:p>
          <a:p>
            <a:pPr algn="l">
              <a:lnSpc>
                <a:spcPts val="2938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029595" y="3842719"/>
            <a:ext cx="3689452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Problema Real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93517" y="3842719"/>
            <a:ext cx="4338161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Vacio Tecnólogico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91601" y="5302964"/>
            <a:ext cx="7411049" cy="3728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2938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Pl</a:t>
            </a:r>
            <a:r>
              <a:rPr lang="en-US" b="true" sz="26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ataformas estáticas e ineficaces: 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Hoy en dia no exsite una plataforma educativa ni que deje subir la radiografia para detectar anomalias.</a:t>
            </a:r>
          </a:p>
          <a:p>
            <a:pPr algn="l">
              <a:lnSpc>
                <a:spcPts val="2938"/>
              </a:lnSpc>
            </a:pPr>
          </a:p>
          <a:p>
            <a:pPr algn="l" marL="561341" indent="-280670" lvl="1">
              <a:lnSpc>
                <a:spcPts val="2938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Falta de métricas para el sector salud: 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 existen herramientas informáticas que permitan a los profesionales detectar cuáles son los mitos </a:t>
            </a:r>
          </a:p>
          <a:p>
            <a:pPr algn="l">
              <a:lnSpc>
                <a:spcPts val="2938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57175" y="253621"/>
            <a:ext cx="3218269" cy="775079"/>
          </a:xfrm>
          <a:custGeom>
            <a:avLst/>
            <a:gdLst/>
            <a:ahLst/>
            <a:cxnLst/>
            <a:rect r="r" b="b" t="t" l="l"/>
            <a:pathLst>
              <a:path h="775079" w="3218269">
                <a:moveTo>
                  <a:pt x="0" y="0"/>
                </a:moveTo>
                <a:lnTo>
                  <a:pt x="3218269" y="0"/>
                </a:lnTo>
                <a:lnTo>
                  <a:pt x="3218269" y="775079"/>
                </a:lnTo>
                <a:lnTo>
                  <a:pt x="0" y="775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71" r="0" b="-871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7175" y="257175"/>
            <a:ext cx="17773650" cy="9772555"/>
            <a:chOff x="0" y="0"/>
            <a:chExt cx="4681093" cy="2573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81093" cy="2573909"/>
            </a:xfrm>
            <a:custGeom>
              <a:avLst/>
              <a:gdLst/>
              <a:ahLst/>
              <a:cxnLst/>
              <a:rect r="r" b="b" t="t" l="l"/>
              <a:pathLst>
                <a:path h="2573909" w="4681093">
                  <a:moveTo>
                    <a:pt x="4681093" y="8276"/>
                  </a:moveTo>
                  <a:lnTo>
                    <a:pt x="4681093" y="2565633"/>
                  </a:lnTo>
                  <a:cubicBezTo>
                    <a:pt x="4681093" y="2570204"/>
                    <a:pt x="4677388" y="2573909"/>
                    <a:pt x="4672817" y="2573909"/>
                  </a:cubicBezTo>
                  <a:lnTo>
                    <a:pt x="8276" y="2573909"/>
                  </a:lnTo>
                  <a:cubicBezTo>
                    <a:pt x="3705" y="2573909"/>
                    <a:pt x="0" y="2570204"/>
                    <a:pt x="0" y="2565633"/>
                  </a:cubicBezTo>
                  <a:lnTo>
                    <a:pt x="0" y="8276"/>
                  </a:lnTo>
                  <a:cubicBezTo>
                    <a:pt x="0" y="3705"/>
                    <a:pt x="3705" y="0"/>
                    <a:pt x="8276" y="0"/>
                  </a:cubicBezTo>
                  <a:lnTo>
                    <a:pt x="4672817" y="0"/>
                  </a:lnTo>
                  <a:cubicBezTo>
                    <a:pt x="4677388" y="0"/>
                    <a:pt x="4681093" y="3705"/>
                    <a:pt x="4681093" y="8276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81093" cy="2612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57175" y="253621"/>
            <a:ext cx="3163159" cy="775079"/>
          </a:xfrm>
          <a:custGeom>
            <a:avLst/>
            <a:gdLst/>
            <a:ahLst/>
            <a:cxnLst/>
            <a:rect r="r" b="b" t="t" l="l"/>
            <a:pathLst>
              <a:path h="775079" w="3163159">
                <a:moveTo>
                  <a:pt x="0" y="0"/>
                </a:moveTo>
                <a:lnTo>
                  <a:pt x="3163159" y="0"/>
                </a:lnTo>
                <a:lnTo>
                  <a:pt x="3163159" y="775079"/>
                </a:lnTo>
                <a:lnTo>
                  <a:pt x="0" y="775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18846" y="1047750"/>
            <a:ext cx="11544292" cy="887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59"/>
              </a:lnSpc>
            </a:pPr>
            <a:r>
              <a:rPr lang="en-US" sz="6000">
                <a:solidFill>
                  <a:srgbClr val="00000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Pilares del proyecto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71154" y="3465324"/>
            <a:ext cx="6651064" cy="335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9"/>
              </a:lnSpc>
            </a:pPr>
            <a:r>
              <a:rPr lang="en-US" sz="33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Modulo Educativo </a:t>
            </a:r>
          </a:p>
          <a:p>
            <a:pPr algn="l">
              <a:lnSpc>
                <a:spcPts val="3236"/>
              </a:lnSpc>
            </a:pPr>
          </a:p>
          <a:p>
            <a:pPr algn="ctr">
              <a:lnSpc>
                <a:spcPts val="3236"/>
              </a:lnSpc>
            </a:pPr>
            <a:r>
              <a:rPr lang="en-US" sz="286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-US" sz="286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struc</a:t>
            </a:r>
            <a:r>
              <a:rPr lang="en-US" sz="286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tura modular interactiva con quizzes, trivias de Mitos vs. Realidades y Verdadero/Falso con retroalimentación médica inmediata para fijar autocuidado.</a:t>
            </a:r>
          </a:p>
          <a:p>
            <a:pPr algn="l">
              <a:lnSpc>
                <a:spcPts val="3236"/>
              </a:lnSpc>
            </a:pPr>
          </a:p>
          <a:p>
            <a:pPr algn="l">
              <a:lnSpc>
                <a:spcPts val="3236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074422" y="3465324"/>
            <a:ext cx="6651064" cy="294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9"/>
              </a:lnSpc>
            </a:pPr>
            <a:r>
              <a:rPr lang="en-US" sz="33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Scanner IA </a:t>
            </a:r>
          </a:p>
          <a:p>
            <a:pPr algn="ctr">
              <a:lnSpc>
                <a:spcPts val="3236"/>
              </a:lnSpc>
            </a:pPr>
          </a:p>
          <a:p>
            <a:pPr algn="ctr">
              <a:lnSpc>
                <a:spcPts val="3236"/>
              </a:lnSpc>
            </a:pPr>
            <a:r>
              <a:rPr lang="en-US" sz="286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</a:t>
            </a:r>
            <a:r>
              <a:rPr lang="en-US" sz="286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alizador de imágenes de radiografia mamaria basado en visión por computadora para la detección asistida de anomalías e interpretación de riesgo.</a:t>
            </a:r>
          </a:p>
          <a:p>
            <a:pPr algn="l">
              <a:lnSpc>
                <a:spcPts val="3236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5818468" y="6711378"/>
            <a:ext cx="6651064" cy="253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9"/>
              </a:lnSpc>
            </a:pPr>
            <a:r>
              <a:rPr lang="en-US" sz="33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Asistente POE</a:t>
            </a:r>
          </a:p>
          <a:p>
            <a:pPr algn="ctr">
              <a:lnSpc>
                <a:spcPts val="3236"/>
              </a:lnSpc>
            </a:pPr>
          </a:p>
          <a:p>
            <a:pPr algn="ctr">
              <a:lnSpc>
                <a:spcPts val="3236"/>
              </a:lnSpc>
            </a:pPr>
            <a:r>
              <a:rPr lang="en-US" sz="286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Chatbot inteligente con lenguaje natural empático que traduce los resultados técnicos a un lenguaje claro, seguro y orientador para el paciente.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7175" y="257175"/>
            <a:ext cx="17773650" cy="9772555"/>
            <a:chOff x="0" y="0"/>
            <a:chExt cx="4681093" cy="2573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81093" cy="2573909"/>
            </a:xfrm>
            <a:custGeom>
              <a:avLst/>
              <a:gdLst/>
              <a:ahLst/>
              <a:cxnLst/>
              <a:rect r="r" b="b" t="t" l="l"/>
              <a:pathLst>
                <a:path h="2573909" w="4681093">
                  <a:moveTo>
                    <a:pt x="4681093" y="8276"/>
                  </a:moveTo>
                  <a:lnTo>
                    <a:pt x="4681093" y="2565633"/>
                  </a:lnTo>
                  <a:cubicBezTo>
                    <a:pt x="4681093" y="2570204"/>
                    <a:pt x="4677388" y="2573909"/>
                    <a:pt x="4672817" y="2573909"/>
                  </a:cubicBezTo>
                  <a:lnTo>
                    <a:pt x="8276" y="2573909"/>
                  </a:lnTo>
                  <a:cubicBezTo>
                    <a:pt x="3705" y="2573909"/>
                    <a:pt x="0" y="2570204"/>
                    <a:pt x="0" y="2565633"/>
                  </a:cubicBezTo>
                  <a:lnTo>
                    <a:pt x="0" y="8276"/>
                  </a:lnTo>
                  <a:cubicBezTo>
                    <a:pt x="0" y="3705"/>
                    <a:pt x="3705" y="0"/>
                    <a:pt x="8276" y="0"/>
                  </a:cubicBezTo>
                  <a:lnTo>
                    <a:pt x="4672817" y="0"/>
                  </a:lnTo>
                  <a:cubicBezTo>
                    <a:pt x="4677388" y="0"/>
                    <a:pt x="4681093" y="3705"/>
                    <a:pt x="4681093" y="8276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81093" cy="2612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218846" y="1047750"/>
            <a:ext cx="11544292" cy="887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59"/>
              </a:lnSpc>
            </a:pPr>
            <a:r>
              <a:rPr lang="en-US" sz="6000">
                <a:solidFill>
                  <a:srgbClr val="00000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Solucion propuesta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8982" y="2447680"/>
            <a:ext cx="8425018" cy="7071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8"/>
              </a:lnSpc>
            </a:pPr>
          </a:p>
          <a:p>
            <a:pPr algn="just">
              <a:lnSpc>
                <a:spcPts val="2938"/>
              </a:lnSpc>
            </a:pPr>
          </a:p>
          <a:p>
            <a:pPr algn="just">
              <a:lnSpc>
                <a:spcPts val="2938"/>
              </a:lnSpc>
            </a:pPr>
            <a:r>
              <a:rPr lang="en-US" b="true" sz="26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1. Módulo Educa</a:t>
            </a:r>
            <a:r>
              <a:rPr lang="en-US" b="true" sz="26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tivo e Interac</a:t>
            </a:r>
            <a:r>
              <a:rPr lang="en-US" b="true" sz="26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tivo (Público General)</a:t>
            </a:r>
          </a:p>
          <a:p>
            <a:pPr algn="just">
              <a:lnSpc>
                <a:spcPts val="2938"/>
              </a:lnSpc>
            </a:pP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Gestión de Sesiones y Autenticación: El usuario inicia sesión para registrar su progreso a través de las distintas etapas de aprendizaje.</a:t>
            </a:r>
          </a:p>
          <a:p>
            <a:pPr algn="just">
              <a:lnSpc>
                <a:spcPts val="2938"/>
              </a:lnSpc>
            </a:pPr>
          </a:p>
          <a:p>
            <a:pPr algn="just">
              <a:lnSpc>
                <a:spcPts val="2938"/>
              </a:lnSpc>
            </a:pPr>
            <a:r>
              <a:rPr lang="en-US" b="true" sz="26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Estructura Modular por Sesiones:</a:t>
            </a:r>
          </a:p>
          <a:p>
            <a:pPr algn="just">
              <a:lnSpc>
                <a:spcPts val="2938"/>
              </a:lnSpc>
            </a:pPr>
            <a:r>
              <a:rPr lang="en-US" b="true" sz="26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Sesión 1: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Mitos vs. Realidades</a:t>
            </a:r>
          </a:p>
          <a:p>
            <a:pPr algn="just">
              <a:lnSpc>
                <a:spcPts val="2938"/>
              </a:lnSpc>
            </a:pP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Dinámica interactiva para desmentir falsas creencias sobre la salud mamaria.</a:t>
            </a:r>
          </a:p>
          <a:p>
            <a:pPr algn="just">
              <a:lnSpc>
                <a:spcPts val="2938"/>
              </a:lnSpc>
            </a:pPr>
            <a:r>
              <a:rPr lang="en-US" b="true" sz="26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Sesión 2: 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Preguntas de Opción Múltiple</a:t>
            </a:r>
          </a:p>
          <a:p>
            <a:pPr algn="just">
              <a:lnSpc>
                <a:spcPts val="2938"/>
              </a:lnSpc>
            </a:pP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Módulo de retroalimentación inmediata con explicación médica detallada tras cada respuesta.</a:t>
            </a:r>
          </a:p>
          <a:p>
            <a:pPr algn="just">
              <a:lnSpc>
                <a:spcPts val="2938"/>
              </a:lnSpc>
            </a:pPr>
            <a:r>
              <a:rPr lang="en-US" b="true" sz="26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Sesión 3: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Verdadero o Falso</a:t>
            </a:r>
          </a:p>
          <a:p>
            <a:pPr algn="just">
              <a:lnSpc>
                <a:spcPts val="2938"/>
              </a:lnSpc>
            </a:pP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Evaluación rápida para fijar conceptos clave de prevención y autocuidado.</a:t>
            </a:r>
          </a:p>
          <a:p>
            <a:pPr algn="just">
              <a:lnSpc>
                <a:spcPts val="2938"/>
              </a:lnSpc>
            </a:pPr>
          </a:p>
          <a:p>
            <a:pPr algn="just">
              <a:lnSpc>
                <a:spcPts val="2938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579206" y="3330129"/>
            <a:ext cx="6942797" cy="4099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8"/>
              </a:lnSpc>
            </a:pPr>
            <a:r>
              <a:rPr lang="en-US" sz="26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2</a:t>
            </a:r>
            <a:r>
              <a:rPr lang="en-US" b="true" sz="26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. Panel Adm</a:t>
            </a:r>
            <a:r>
              <a:rPr lang="en-US" b="true" sz="26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inistra</a:t>
            </a:r>
            <a:r>
              <a:rPr lang="en-US" b="true" sz="26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tivo (Doctor / Especialista)</a:t>
            </a:r>
          </a:p>
          <a:p>
            <a:pPr algn="just">
              <a:lnSpc>
                <a:spcPts val="2938"/>
              </a:lnSpc>
            </a:pPr>
          </a:p>
          <a:p>
            <a:pPr algn="just">
              <a:lnSpc>
                <a:spcPts val="2938"/>
              </a:lnSpc>
            </a:pPr>
            <a:r>
              <a:rPr lang="en-US" b="true" sz="26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Gestión Total de Preguntas (CRUD):</a:t>
            </a:r>
          </a:p>
          <a:p>
            <a:pPr algn="just">
              <a:lnSpc>
                <a:spcPts val="2938"/>
              </a:lnSpc>
            </a:pP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Permite al administrador o profesional de la salud crear, edita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lasi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car y eliminar preguntas de las 3 s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esi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es en tiempo real.</a:t>
            </a:r>
          </a:p>
          <a:p>
            <a:pPr algn="just">
              <a:lnSpc>
                <a:spcPts val="2938"/>
              </a:lnSpc>
            </a:pP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Control de Explicaciones Médicas</a:t>
            </a:r>
          </a:p>
          <a:p>
            <a:pPr algn="just">
              <a:lnSpc>
                <a:spcPts val="2938"/>
              </a:lnSpc>
            </a:pP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Espacio exclusivo para redactar la justificac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ión 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clínica personalizada que el usuario verá al responder cada pregunta.</a:t>
            </a:r>
          </a:p>
          <a:p>
            <a:pPr algn="just">
              <a:lnSpc>
                <a:spcPts val="2938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57175" y="253621"/>
            <a:ext cx="3163159" cy="775079"/>
          </a:xfrm>
          <a:custGeom>
            <a:avLst/>
            <a:gdLst/>
            <a:ahLst/>
            <a:cxnLst/>
            <a:rect r="r" b="b" t="t" l="l"/>
            <a:pathLst>
              <a:path h="775079" w="3163159">
                <a:moveTo>
                  <a:pt x="0" y="0"/>
                </a:moveTo>
                <a:lnTo>
                  <a:pt x="3163159" y="0"/>
                </a:lnTo>
                <a:lnTo>
                  <a:pt x="3163159" y="775079"/>
                </a:lnTo>
                <a:lnTo>
                  <a:pt x="0" y="775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7175" y="257175"/>
            <a:ext cx="17773650" cy="9772555"/>
            <a:chOff x="0" y="0"/>
            <a:chExt cx="4681093" cy="2573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81093" cy="2573909"/>
            </a:xfrm>
            <a:custGeom>
              <a:avLst/>
              <a:gdLst/>
              <a:ahLst/>
              <a:cxnLst/>
              <a:rect r="r" b="b" t="t" l="l"/>
              <a:pathLst>
                <a:path h="2573909" w="4681093">
                  <a:moveTo>
                    <a:pt x="4681093" y="8276"/>
                  </a:moveTo>
                  <a:lnTo>
                    <a:pt x="4681093" y="2565633"/>
                  </a:lnTo>
                  <a:cubicBezTo>
                    <a:pt x="4681093" y="2570204"/>
                    <a:pt x="4677388" y="2573909"/>
                    <a:pt x="4672817" y="2573909"/>
                  </a:cubicBezTo>
                  <a:lnTo>
                    <a:pt x="8276" y="2573909"/>
                  </a:lnTo>
                  <a:cubicBezTo>
                    <a:pt x="3705" y="2573909"/>
                    <a:pt x="0" y="2570204"/>
                    <a:pt x="0" y="2565633"/>
                  </a:cubicBezTo>
                  <a:lnTo>
                    <a:pt x="0" y="8276"/>
                  </a:lnTo>
                  <a:cubicBezTo>
                    <a:pt x="0" y="3705"/>
                    <a:pt x="3705" y="0"/>
                    <a:pt x="8276" y="0"/>
                  </a:cubicBezTo>
                  <a:lnTo>
                    <a:pt x="4672817" y="0"/>
                  </a:lnTo>
                  <a:cubicBezTo>
                    <a:pt x="4677388" y="0"/>
                    <a:pt x="4681093" y="3705"/>
                    <a:pt x="4681093" y="8276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81093" cy="2612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24076" y="1236145"/>
            <a:ext cx="16300671" cy="148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0"/>
              </a:lnSpc>
            </a:pPr>
            <a:r>
              <a:rPr lang="en-US" sz="5000">
                <a:solidFill>
                  <a:srgbClr val="00000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Scanner IA - redes convolucionales y</a:t>
            </a:r>
          </a:p>
          <a:p>
            <a:pPr algn="ctr" marL="0" indent="0" lvl="0">
              <a:lnSpc>
                <a:spcPts val="5800"/>
              </a:lnSpc>
            </a:pPr>
            <a:r>
              <a:rPr lang="en-US" sz="5000">
                <a:solidFill>
                  <a:srgbClr val="00000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asistente POE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308006"/>
            <a:ext cx="7745711" cy="5626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6"/>
              </a:lnSpc>
            </a:pPr>
            <a:r>
              <a:rPr lang="en-US" sz="2899" b="true">
                <a:solidFill>
                  <a:srgbClr val="FF751F"/>
                </a:solidFill>
                <a:latin typeface="Roboto Bold"/>
                <a:ea typeface="Roboto Bold"/>
                <a:cs typeface="Roboto Bold"/>
                <a:sym typeface="Roboto Bold"/>
              </a:rPr>
              <a:t>Visió</a:t>
            </a:r>
            <a:r>
              <a:rPr lang="en-US" sz="2899" b="true">
                <a:solidFill>
                  <a:srgbClr val="FF751F"/>
                </a:solidFill>
                <a:latin typeface="Roboto Bold"/>
                <a:ea typeface="Roboto Bold"/>
                <a:cs typeface="Roboto Bold"/>
                <a:sym typeface="Roboto Bold"/>
              </a:rPr>
              <a:t>n Art</a:t>
            </a:r>
            <a:r>
              <a:rPr lang="en-US" sz="2899" b="true">
                <a:solidFill>
                  <a:srgbClr val="FF751F"/>
                </a:solidFill>
                <a:latin typeface="Roboto Bold"/>
                <a:ea typeface="Roboto Bold"/>
                <a:cs typeface="Roboto Bold"/>
                <a:sym typeface="Roboto Bold"/>
              </a:rPr>
              <a:t>ificial apl</a:t>
            </a:r>
            <a:r>
              <a:rPr lang="en-US" sz="2899" b="true">
                <a:solidFill>
                  <a:srgbClr val="FF751F"/>
                </a:solidFill>
                <a:latin typeface="Roboto Bold"/>
                <a:ea typeface="Roboto Bold"/>
                <a:cs typeface="Roboto Bold"/>
                <a:sym typeface="Roboto Bold"/>
              </a:rPr>
              <a:t>icada a Ecografías</a:t>
            </a:r>
          </a:p>
          <a:p>
            <a:pPr algn="ctr">
              <a:lnSpc>
                <a:spcPts val="3163"/>
              </a:lnSpc>
            </a:pPr>
          </a:p>
          <a:p>
            <a:pPr algn="ctr">
              <a:lnSpc>
                <a:spcPts val="3163"/>
              </a:lnSpc>
            </a:pPr>
            <a:r>
              <a:rPr lang="en-US" b="true" sz="279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Carga de Imágenes: </a:t>
            </a: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El usuario o profesional sube la imagen de ultrasonido mamario a la plataforma web.</a:t>
            </a:r>
          </a:p>
          <a:p>
            <a:pPr algn="ctr">
              <a:lnSpc>
                <a:spcPts val="3163"/>
              </a:lnSpc>
            </a:pPr>
          </a:p>
          <a:p>
            <a:pPr algn="ctr">
              <a:lnSpc>
                <a:spcPts val="3163"/>
              </a:lnSpc>
            </a:pPr>
            <a:r>
              <a:rPr lang="en-US" b="true" sz="279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Procesamiento CNN:</a:t>
            </a: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El modelo analiza patrones tisulares clasificando el nivel de sospecha (Benigno / Maligno / Normal).</a:t>
            </a:r>
          </a:p>
          <a:p>
            <a:pPr algn="ctr">
              <a:lnSpc>
                <a:spcPts val="3163"/>
              </a:lnSpc>
            </a:pPr>
          </a:p>
          <a:p>
            <a:pPr algn="ctr">
              <a:lnSpc>
                <a:spcPts val="3163"/>
              </a:lnSpc>
            </a:pPr>
            <a:r>
              <a:rPr lang="en-US" b="true" sz="279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Explicabilidad Asistida:</a:t>
            </a: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Proporciona un mapa de calor o indicador visual para apoyar el pre-triaje y guiar la consulta profesional.</a:t>
            </a:r>
          </a:p>
          <a:p>
            <a:pPr algn="ctr">
              <a:lnSpc>
                <a:spcPts val="3163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513589" y="3308006"/>
            <a:ext cx="7745711" cy="4025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6"/>
              </a:lnSpc>
            </a:pPr>
            <a:r>
              <a:rPr lang="en-US" sz="2899" b="true">
                <a:solidFill>
                  <a:srgbClr val="FF751F"/>
                </a:solidFill>
                <a:latin typeface="Roboto Bold"/>
                <a:ea typeface="Roboto Bold"/>
                <a:cs typeface="Roboto Bold"/>
                <a:sym typeface="Roboto Bold"/>
              </a:rPr>
              <a:t>I</a:t>
            </a:r>
            <a:r>
              <a:rPr lang="en-US" sz="2899" b="true">
                <a:solidFill>
                  <a:srgbClr val="FF751F"/>
                </a:solidFill>
                <a:latin typeface="Roboto Bold"/>
                <a:ea typeface="Roboto Bold"/>
                <a:cs typeface="Roboto Bold"/>
                <a:sym typeface="Roboto Bold"/>
              </a:rPr>
              <a:t>ntegr</a:t>
            </a:r>
            <a:r>
              <a:rPr lang="en-US" sz="2899" b="true">
                <a:solidFill>
                  <a:srgbClr val="FF751F"/>
                </a:solidFill>
                <a:latin typeface="Roboto Bold"/>
                <a:ea typeface="Roboto Bold"/>
                <a:cs typeface="Roboto Bold"/>
                <a:sym typeface="Roboto Bold"/>
              </a:rPr>
              <a:t>a</a:t>
            </a:r>
            <a:r>
              <a:rPr lang="en-US" sz="2899" b="true">
                <a:solidFill>
                  <a:srgbClr val="FF751F"/>
                </a:solidFill>
                <a:latin typeface="Roboto Bold"/>
                <a:ea typeface="Roboto Bold"/>
                <a:cs typeface="Roboto Bold"/>
                <a:sym typeface="Roboto Bold"/>
              </a:rPr>
              <a:t>ción con API Poe </a:t>
            </a:r>
          </a:p>
          <a:p>
            <a:pPr algn="ctr">
              <a:lnSpc>
                <a:spcPts val="3163"/>
              </a:lnSpc>
            </a:pPr>
          </a:p>
          <a:p>
            <a:pPr algn="ctr">
              <a:lnSpc>
                <a:spcPts val="3163"/>
              </a:lnSpc>
            </a:pPr>
            <a:r>
              <a:rPr lang="en-US" b="true" sz="279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Procesamiento de Lenguaje Natural:</a:t>
            </a: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Conexión mediante API al motor de Poe.com personalizado con un prompt médico regulado.</a:t>
            </a:r>
          </a:p>
          <a:p>
            <a:pPr algn="ctr">
              <a:lnSpc>
                <a:spcPts val="3163"/>
              </a:lnSpc>
            </a:pPr>
          </a:p>
          <a:p>
            <a:pPr algn="ctr">
              <a:lnSpc>
                <a:spcPts val="3163"/>
              </a:lnSpc>
            </a:pPr>
            <a:r>
              <a:rPr lang="en-US" b="true" sz="279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Traducción de Lenguaje Técnico: </a:t>
            </a: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Transforma porcentajes de riesgo e informes complejos en recomendaciones comprensibles.</a:t>
            </a:r>
          </a:p>
          <a:p>
            <a:pPr algn="l">
              <a:lnSpc>
                <a:spcPts val="3163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57175" y="253621"/>
            <a:ext cx="3163159" cy="775079"/>
          </a:xfrm>
          <a:custGeom>
            <a:avLst/>
            <a:gdLst/>
            <a:ahLst/>
            <a:cxnLst/>
            <a:rect r="r" b="b" t="t" l="l"/>
            <a:pathLst>
              <a:path h="775079" w="3163159">
                <a:moveTo>
                  <a:pt x="0" y="0"/>
                </a:moveTo>
                <a:lnTo>
                  <a:pt x="3163159" y="0"/>
                </a:lnTo>
                <a:lnTo>
                  <a:pt x="3163159" y="775079"/>
                </a:lnTo>
                <a:lnTo>
                  <a:pt x="0" y="775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7175" y="257175"/>
            <a:ext cx="17773650" cy="9772555"/>
            <a:chOff x="0" y="0"/>
            <a:chExt cx="4681093" cy="2573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81093" cy="2573909"/>
            </a:xfrm>
            <a:custGeom>
              <a:avLst/>
              <a:gdLst/>
              <a:ahLst/>
              <a:cxnLst/>
              <a:rect r="r" b="b" t="t" l="l"/>
              <a:pathLst>
                <a:path h="2573909" w="4681093">
                  <a:moveTo>
                    <a:pt x="4681093" y="8276"/>
                  </a:moveTo>
                  <a:lnTo>
                    <a:pt x="4681093" y="2565633"/>
                  </a:lnTo>
                  <a:cubicBezTo>
                    <a:pt x="4681093" y="2570204"/>
                    <a:pt x="4677388" y="2573909"/>
                    <a:pt x="4672817" y="2573909"/>
                  </a:cubicBezTo>
                  <a:lnTo>
                    <a:pt x="8276" y="2573909"/>
                  </a:lnTo>
                  <a:cubicBezTo>
                    <a:pt x="3705" y="2573909"/>
                    <a:pt x="0" y="2570204"/>
                    <a:pt x="0" y="2565633"/>
                  </a:cubicBezTo>
                  <a:lnTo>
                    <a:pt x="0" y="8276"/>
                  </a:lnTo>
                  <a:cubicBezTo>
                    <a:pt x="0" y="3705"/>
                    <a:pt x="3705" y="0"/>
                    <a:pt x="8276" y="0"/>
                  </a:cubicBezTo>
                  <a:lnTo>
                    <a:pt x="4672817" y="0"/>
                  </a:lnTo>
                  <a:cubicBezTo>
                    <a:pt x="4677388" y="0"/>
                    <a:pt x="4681093" y="3705"/>
                    <a:pt x="4681093" y="8276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81093" cy="2612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aphicFrame>
        <p:nvGraphicFramePr>
          <p:cNvPr name="Object 5" id="5"/>
          <p:cNvGraphicFramePr/>
          <p:nvPr/>
        </p:nvGraphicFramePr>
        <p:xfrm>
          <a:off x="1625064" y="3014200"/>
          <a:ext cx="5657850" cy="3771900"/>
        </p:xfrm>
        <a:graphic>
          <a:graphicData uri="http://schemas.openxmlformats.org/presentationml/2006/ole">
            <p:oleObj imgW="6781800" imgH="4902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608764" y="1456583"/>
            <a:ext cx="16300671" cy="74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00"/>
              </a:lnSpc>
            </a:pPr>
            <a:r>
              <a:rPr lang="en-US" sz="5000">
                <a:solidFill>
                  <a:srgbClr val="00000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Arquitectura del proyecto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57175" y="253621"/>
            <a:ext cx="3163159" cy="775079"/>
          </a:xfrm>
          <a:custGeom>
            <a:avLst/>
            <a:gdLst/>
            <a:ahLst/>
            <a:cxnLst/>
            <a:rect r="r" b="b" t="t" l="l"/>
            <a:pathLst>
              <a:path h="775079" w="3163159">
                <a:moveTo>
                  <a:pt x="0" y="0"/>
                </a:moveTo>
                <a:lnTo>
                  <a:pt x="3163159" y="0"/>
                </a:lnTo>
                <a:lnTo>
                  <a:pt x="3163159" y="775079"/>
                </a:lnTo>
                <a:lnTo>
                  <a:pt x="0" y="7750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7175" y="257175"/>
            <a:ext cx="17773650" cy="9772555"/>
            <a:chOff x="0" y="0"/>
            <a:chExt cx="4681093" cy="2573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81093" cy="2573909"/>
            </a:xfrm>
            <a:custGeom>
              <a:avLst/>
              <a:gdLst/>
              <a:ahLst/>
              <a:cxnLst/>
              <a:rect r="r" b="b" t="t" l="l"/>
              <a:pathLst>
                <a:path h="2573909" w="4681093">
                  <a:moveTo>
                    <a:pt x="4681093" y="8276"/>
                  </a:moveTo>
                  <a:lnTo>
                    <a:pt x="4681093" y="2565633"/>
                  </a:lnTo>
                  <a:cubicBezTo>
                    <a:pt x="4681093" y="2570204"/>
                    <a:pt x="4677388" y="2573909"/>
                    <a:pt x="4672817" y="2573909"/>
                  </a:cubicBezTo>
                  <a:lnTo>
                    <a:pt x="8276" y="2573909"/>
                  </a:lnTo>
                  <a:cubicBezTo>
                    <a:pt x="3705" y="2573909"/>
                    <a:pt x="0" y="2570204"/>
                    <a:pt x="0" y="2565633"/>
                  </a:cubicBezTo>
                  <a:lnTo>
                    <a:pt x="0" y="8276"/>
                  </a:lnTo>
                  <a:cubicBezTo>
                    <a:pt x="0" y="3705"/>
                    <a:pt x="3705" y="0"/>
                    <a:pt x="8276" y="0"/>
                  </a:cubicBezTo>
                  <a:lnTo>
                    <a:pt x="4672817" y="0"/>
                  </a:lnTo>
                  <a:cubicBezTo>
                    <a:pt x="4677388" y="0"/>
                    <a:pt x="4681093" y="3705"/>
                    <a:pt x="4681093" y="8276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81093" cy="2612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07851" y="1123950"/>
            <a:ext cx="15872298" cy="8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2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Casos de usos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57175" y="253621"/>
            <a:ext cx="3163159" cy="775079"/>
          </a:xfrm>
          <a:custGeom>
            <a:avLst/>
            <a:gdLst/>
            <a:ahLst/>
            <a:cxnLst/>
            <a:rect r="r" b="b" t="t" l="l"/>
            <a:pathLst>
              <a:path h="775079" w="3163159">
                <a:moveTo>
                  <a:pt x="0" y="0"/>
                </a:moveTo>
                <a:lnTo>
                  <a:pt x="3163159" y="0"/>
                </a:lnTo>
                <a:lnTo>
                  <a:pt x="3163159" y="775079"/>
                </a:lnTo>
                <a:lnTo>
                  <a:pt x="0" y="775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7175" y="257175"/>
            <a:ext cx="17773650" cy="9772555"/>
            <a:chOff x="0" y="0"/>
            <a:chExt cx="4681093" cy="2573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81093" cy="2573909"/>
            </a:xfrm>
            <a:custGeom>
              <a:avLst/>
              <a:gdLst/>
              <a:ahLst/>
              <a:cxnLst/>
              <a:rect r="r" b="b" t="t" l="l"/>
              <a:pathLst>
                <a:path h="2573909" w="4681093">
                  <a:moveTo>
                    <a:pt x="4681093" y="8276"/>
                  </a:moveTo>
                  <a:lnTo>
                    <a:pt x="4681093" y="2565633"/>
                  </a:lnTo>
                  <a:cubicBezTo>
                    <a:pt x="4681093" y="2570204"/>
                    <a:pt x="4677388" y="2573909"/>
                    <a:pt x="4672817" y="2573909"/>
                  </a:cubicBezTo>
                  <a:lnTo>
                    <a:pt x="8276" y="2573909"/>
                  </a:lnTo>
                  <a:cubicBezTo>
                    <a:pt x="3705" y="2573909"/>
                    <a:pt x="0" y="2570204"/>
                    <a:pt x="0" y="2565633"/>
                  </a:cubicBezTo>
                  <a:lnTo>
                    <a:pt x="0" y="8276"/>
                  </a:lnTo>
                  <a:cubicBezTo>
                    <a:pt x="0" y="3705"/>
                    <a:pt x="3705" y="0"/>
                    <a:pt x="8276" y="0"/>
                  </a:cubicBezTo>
                  <a:lnTo>
                    <a:pt x="4672817" y="0"/>
                  </a:lnTo>
                  <a:cubicBezTo>
                    <a:pt x="4677388" y="0"/>
                    <a:pt x="4681093" y="3705"/>
                    <a:pt x="4681093" y="8276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81093" cy="2612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198268" y="1200745"/>
            <a:ext cx="14709515" cy="4322549"/>
          </a:xfrm>
          <a:custGeom>
            <a:avLst/>
            <a:gdLst/>
            <a:ahLst/>
            <a:cxnLst/>
            <a:rect r="r" b="b" t="t" l="l"/>
            <a:pathLst>
              <a:path h="4322549" w="14709515">
                <a:moveTo>
                  <a:pt x="0" y="0"/>
                </a:moveTo>
                <a:lnTo>
                  <a:pt x="14709515" y="0"/>
                </a:lnTo>
                <a:lnTo>
                  <a:pt x="14709515" y="4322548"/>
                </a:lnTo>
                <a:lnTo>
                  <a:pt x="0" y="43225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726" r="0" b="-2968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198268" y="5695338"/>
            <a:ext cx="15061032" cy="4148051"/>
          </a:xfrm>
          <a:custGeom>
            <a:avLst/>
            <a:gdLst/>
            <a:ahLst/>
            <a:cxnLst/>
            <a:rect r="r" b="b" t="t" l="l"/>
            <a:pathLst>
              <a:path h="4148051" w="15061032">
                <a:moveTo>
                  <a:pt x="0" y="0"/>
                </a:moveTo>
                <a:lnTo>
                  <a:pt x="15061032" y="0"/>
                </a:lnTo>
                <a:lnTo>
                  <a:pt x="15061032" y="4148051"/>
                </a:lnTo>
                <a:lnTo>
                  <a:pt x="0" y="41480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6153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57175" y="253621"/>
            <a:ext cx="3163159" cy="775079"/>
          </a:xfrm>
          <a:custGeom>
            <a:avLst/>
            <a:gdLst/>
            <a:ahLst/>
            <a:cxnLst/>
            <a:rect r="r" b="b" t="t" l="l"/>
            <a:pathLst>
              <a:path h="775079" w="3163159">
                <a:moveTo>
                  <a:pt x="0" y="0"/>
                </a:moveTo>
                <a:lnTo>
                  <a:pt x="3163159" y="0"/>
                </a:lnTo>
                <a:lnTo>
                  <a:pt x="3163159" y="775079"/>
                </a:lnTo>
                <a:lnTo>
                  <a:pt x="0" y="7750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DAHSTYmlge0</dc:identifier>
  <dcterms:modified xsi:type="dcterms:W3CDTF">2011-08-01T06:04:30Z</dcterms:modified>
  <cp:revision>1</cp:revision>
  <dc:title>CAPSTONE_mesias_quiroz</dc:title>
</cp:coreProperties>
</file>